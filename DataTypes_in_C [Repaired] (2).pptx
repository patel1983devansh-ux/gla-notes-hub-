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2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66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1708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4736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9213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13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1361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948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9347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5422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8182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76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6128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586974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9756559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1079985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258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992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956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39418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397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02283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8225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821110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64852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7224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7119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60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445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999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70C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3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LESSON 4  ·  BEGINNER C PROGRAMMING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 Types in C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C stores, labels, and works with values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prior C experience needed — just curiosity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10241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</a:t>
            </a:r>
            <a:r>
              <a:rPr lang="en-US" sz="16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value in a C program must have a data type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587752"/>
            <a:ext cx="10241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</a:t>
            </a:r>
            <a:r>
              <a:rPr lang="en-US" sz="16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C's fundamental data types and declare variables correctly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83864"/>
            <a:ext cx="10241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</a:t>
            </a:r>
            <a:r>
              <a:rPr lang="en-US" sz="16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(fundamental &amp; derived) types from programmer-defined types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379976"/>
            <a:ext cx="10241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r>
              <a:rPr lang="en-US" sz="16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C's identifier naming rules to write valid variable and function names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321808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276088"/>
            <a:ext cx="102412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6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and typedef to group related data into one record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Data Types Matter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is, at its core, a machine for transforming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00C2A8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103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E2A38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916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&amp; Transforms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0" y="21031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2A93B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20440" y="2560320"/>
            <a:ext cx="1143000" cy="274320"/>
          </a:xfrm>
          <a:prstGeom prst="rightArrow">
            <a:avLst/>
          </a:prstGeom>
          <a:solidFill>
            <a:srgbClr val="6B7785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0" y="2560320"/>
            <a:ext cx="1143000" cy="274320"/>
          </a:xfrm>
          <a:prstGeom prst="rightArrow">
            <a:avLst/>
          </a:prstGeom>
          <a:solidFill>
            <a:srgbClr val="6B7785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657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store and process data differently depending on its type — so every value read, processed, or written must have a type.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526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define a programming language: the data types it supports, and the operations allowed on those types.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Data Type?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64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Values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of possible data a variable of this type can hold — e.g. whole numbers, single characters, decimals.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37160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12280" y="16459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0" y="1664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Operations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2286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legally allowed on those values — e.g. addition, comparison, or assignment.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type is used to identify: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a variable, when it is declared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the value a function returns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a parameter a function expects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 for Constructing Identifiers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name your data types, constants, variables, and functions.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84708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use capital letters A-Z, lowercase a-z, digits 0-9, and underscore _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92024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84708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character must be a letter or an underscore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2644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only the first 32 characters are significant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315468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33756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326440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embedded blanks (spaces) are allowed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468172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(like int or return) cannot be used as identifiers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26480" y="457200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4754880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468172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are case sensitive — Total and total are different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Classifications of Data Types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09160" y="118872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1E2A38"/>
          </a:solidFill>
          <a:ln/>
        </p:spPr>
      </p:sp>
      <p:sp>
        <p:nvSpPr>
          <p:cNvPr id="4" name="Text 2"/>
          <p:cNvSpPr/>
          <p:nvPr/>
        </p:nvSpPr>
        <p:spPr>
          <a:xfrm>
            <a:off x="470916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in 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1945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Data Types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0" y="21945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Programmer-Defined Types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737360"/>
            <a:ext cx="0" cy="457200"/>
          </a:xfrm>
          <a:prstGeom prst="line">
            <a:avLst/>
          </a:prstGeom>
          <a:noFill/>
          <a:ln w="19050">
            <a:solidFill>
              <a:srgbClr val="AEB9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737360"/>
            <a:ext cx="2788920" cy="457200"/>
          </a:xfrm>
          <a:prstGeom prst="line">
            <a:avLst/>
          </a:prstGeom>
          <a:noFill/>
          <a:ln w="19050">
            <a:solidFill>
              <a:srgbClr val="AEB9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Fundamental: </a:t>
            </a: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char, double, float, void, pointer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</a:t>
            </a: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array, string, 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0" y="30175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31546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types come built into the compiler. Derived and programmer-defined types are built out of them.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Fundamental Data Types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377440" cy="795528"/>
          </a:xfrm>
          <a:prstGeom prst="roundRect">
            <a:avLst>
              <a:gd name="adj" fmla="val 6897"/>
            </a:avLst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1371600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Denotes the type with no values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304288"/>
            <a:ext cx="2377440" cy="795528"/>
          </a:xfrm>
          <a:prstGeom prst="roundRect">
            <a:avLst>
              <a:gd name="adj" fmla="val 6897"/>
            </a:avLst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4288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304288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Denotes an integer (whole number) type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36976"/>
            <a:ext cx="2377440" cy="795528"/>
          </a:xfrm>
          <a:prstGeom prst="roundRect">
            <a:avLst>
              <a:gd name="adj" fmla="val 6897"/>
            </a:avLst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6976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3236976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Denotes a single character type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69664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169664"/>
            <a:ext cx="2377440" cy="795528"/>
          </a:xfrm>
          <a:prstGeom prst="roundRect">
            <a:avLst>
              <a:gd name="adj" fmla="val 6897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69664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float, double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4169664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Denote floating point (decimal) types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102352"/>
            <a:ext cx="2377440" cy="795528"/>
          </a:xfrm>
          <a:prstGeom prst="roundRect">
            <a:avLst>
              <a:gd name="adj" fmla="val 6897"/>
            </a:avLst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02352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*, float *, char *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08960" y="5102352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Denote a pointer type — a memory address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Fundamental Types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variable is declared with the type it will hold — and only that type.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709160"/>
          </a:xfrm>
          <a:prstGeom prst="roundRect">
            <a:avLst>
              <a:gd name="adj" fmla="val 1553"/>
            </a:avLst>
          </a:prstGeom>
          <a:solidFill>
            <a:srgbClr val="13202B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46504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" y="1746504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1746504"/>
            <a:ext cx="100584" cy="1005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84248"/>
            <a:ext cx="63093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elevationIndicator;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inputSymbol;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totalCost;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 (void)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grossProduct;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*temperatureValuePtr;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grossProduct = 4567.89;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inputSymbol = 'a';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(0);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// End main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173736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83880" y="16459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 / char / float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declared globally, before main()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27889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838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double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extra precision decimal, local to main()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35240" y="384048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37490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 *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pointer — stores a memory address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855" y="2146845"/>
            <a:ext cx="4328219" cy="1695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855" y="3994695"/>
            <a:ext cx="4328219" cy="1333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2925" y="2146845"/>
            <a:ext cx="6492180" cy="309562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52815"/>
              </p:ext>
            </p:extLst>
          </p:nvPr>
        </p:nvGraphicFramePr>
        <p:xfrm>
          <a:off x="542925" y="2146845"/>
          <a:ext cx="6473129" cy="309562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876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2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937"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38BDF8"/>
                          </a:solidFill>
                        </a:rPr>
                        <a:t>Data Type</a:t>
                      </a:r>
                      <a:endParaRPr sz="1200" b="1" i="0" u="none" dirty="0">
                        <a:solidFill>
                          <a:srgbClr val="38BDF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38BDF8"/>
                          </a:solidFill>
                        </a:rPr>
                        <a:t>Memory Size</a:t>
                      </a:r>
                      <a:endParaRPr sz="1200" b="1" i="0" u="none">
                        <a:solidFill>
                          <a:srgbClr val="38BDF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 dirty="0">
                          <a:solidFill>
                            <a:srgbClr val="38BDF8"/>
                          </a:solidFill>
                        </a:rPr>
                        <a:t>Value Range (Typical)</a:t>
                      </a:r>
                      <a:endParaRPr sz="1200" b="1" i="0" u="none" dirty="0">
                        <a:solidFill>
                          <a:srgbClr val="38BDF8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937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char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38BDF8"/>
                          </a:solidFill>
                        </a:rPr>
                        <a:t>1 Byte</a:t>
                      </a:r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 (8 bits)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-128 to 127 or 0 to 255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937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int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38BDF8"/>
                          </a:solidFill>
                        </a:rPr>
                        <a:t>2 or 4 Bytes</a:t>
                      </a:r>
                      <a:endParaRPr sz="1200" b="1" i="0" u="none">
                        <a:solidFill>
                          <a:srgbClr val="38BDF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-2,147,483,648 to 2,147,483,647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937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float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38BDF8"/>
                          </a:solidFill>
                        </a:rPr>
                        <a:t>4 Bytes</a:t>
                      </a:r>
                      <a:endParaRPr sz="1200" b="1" i="0" u="none">
                        <a:solidFill>
                          <a:srgbClr val="38BDF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6 decimal places precision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937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double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38BDF8"/>
                          </a:solidFill>
                        </a:rPr>
                        <a:t>8 Bytes</a:t>
                      </a:r>
                      <a:endParaRPr sz="1200" b="1" i="0" u="none">
                        <a:solidFill>
                          <a:srgbClr val="38BDF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15 decimal places precision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940">
                <a:tc>
                  <a:txBody>
                    <a:bodyPr/>
                    <a:lstStyle/>
                    <a:p>
                      <a:pPr algn="l"/>
                      <a:r>
                        <a:rPr sz="1200" b="0" u="none">
                          <a:solidFill>
                            <a:srgbClr val="CBD5E1"/>
                          </a:solidFill>
                        </a:rPr>
                        <a:t>Pointers (ptr)</a:t>
                      </a:r>
                      <a:endParaRPr sz="1200" b="0" i="0" u="none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u="none">
                          <a:solidFill>
                            <a:srgbClr val="818CF8"/>
                          </a:solidFill>
                        </a:rPr>
                        <a:t>4 or 8 Bytes</a:t>
                      </a:r>
                      <a:endParaRPr sz="1200" b="1" i="0" u="none">
                        <a:solidFill>
                          <a:srgbClr val="818CF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u="none" dirty="0">
                          <a:solidFill>
                            <a:srgbClr val="CBD5E1"/>
                          </a:solidFill>
                        </a:rPr>
                        <a:t>Depends on OS (32-bit vs 64-bit)</a:t>
                      </a:r>
                      <a:endParaRPr sz="120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52450" y="2661195"/>
            <a:ext cx="18761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28577" y="2661195"/>
            <a:ext cx="1614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43064" y="2661195"/>
            <a:ext cx="2982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0880" y="2346870"/>
            <a:ext cx="4124578" cy="21907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The sizeof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0880" y="2642145"/>
            <a:ext cx="392816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Use C's built-in sizeof() operator to query exact memory consumption on any platform: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0380" y="4004220"/>
            <a:ext cx="4309169" cy="13144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52450" y="3175545"/>
            <a:ext cx="18761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28577" y="3175545"/>
            <a:ext cx="1614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43064" y="3175545"/>
            <a:ext cx="2982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2450" y="3689895"/>
            <a:ext cx="18761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28577" y="3689895"/>
            <a:ext cx="1614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43064" y="3689895"/>
            <a:ext cx="2982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2450" y="4204245"/>
            <a:ext cx="18761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28577" y="4204245"/>
            <a:ext cx="1614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43064" y="4204245"/>
            <a:ext cx="2982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2450" y="4718595"/>
            <a:ext cx="18761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28577" y="4718595"/>
            <a:ext cx="161448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43064" y="4718595"/>
            <a:ext cx="29825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880" y="2384970"/>
            <a:ext cx="171450" cy="1714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2A7935C-A7E5-D573-E712-DD724B6DBA37}"/>
              </a:ext>
            </a:extLst>
          </p:cNvPr>
          <p:cNvSpPr txBox="1"/>
          <p:nvPr/>
        </p:nvSpPr>
        <p:spPr>
          <a:xfrm>
            <a:off x="1371600" y="428625"/>
            <a:ext cx="100774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MEMORY ALLOCATION OF DATA TYPES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31989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5404395"/>
            <a:ext cx="11106150" cy="46672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2925" y="1603920"/>
            <a:ext cx="11106150" cy="36099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56205"/>
              </p:ext>
            </p:extLst>
          </p:nvPr>
        </p:nvGraphicFramePr>
        <p:xfrm>
          <a:off x="542925" y="1603920"/>
          <a:ext cx="11087098" cy="3609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5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8BDF8"/>
                          </a:solidFill>
                          <a:latin typeface="Plus Jakarta Sans"/>
                        </a:rPr>
                        <a:t>Specifier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Purpose &amp; Explanation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Example Usage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%d / %</a:t>
                      </a:r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i</a:t>
                      </a:r>
                      <a:endParaRPr sz="12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Signed decimal integer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printf("%d", 42);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%c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char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Single character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printf("%c", 'A');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%f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float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Floating-point number (decimal)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printf("%.2f", 19.99);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%</a:t>
                      </a:r>
                      <a:r>
                        <a:rPr sz="12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lf</a:t>
                      </a:r>
                      <a:endParaRPr sz="12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double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Double precision floating-point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scanf("%lf", &amp;val);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%p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Pointer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Memory address (hexadecimal)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chemeClr val="tx1"/>
                          </a:solidFill>
                          <a:latin typeface="Inter"/>
                        </a:rPr>
                        <a:t>printf("%p", &amp;var);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715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%s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String / char[]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Array of characters (text)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printf("%s", "Hello");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1050" y="5547270"/>
            <a:ext cx="7715250" cy="1809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Inter"/>
              </a:rPr>
              <a:t>Pro Tip: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Format specifiers tell printf() and scanf() how to format raw memory bytes into readable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" y="2118270"/>
            <a:ext cx="16513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03846" y="2118270"/>
            <a:ext cx="25427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46575" y="2118270"/>
            <a:ext cx="36270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73665" y="2118270"/>
            <a:ext cx="326588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5566320"/>
            <a:ext cx="104775" cy="1428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52450" y="2632620"/>
            <a:ext cx="16513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03846" y="2632620"/>
            <a:ext cx="25427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46575" y="2632620"/>
            <a:ext cx="36270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73665" y="2632620"/>
            <a:ext cx="326588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2450" y="3146970"/>
            <a:ext cx="16513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03846" y="3146970"/>
            <a:ext cx="25427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46575" y="3146970"/>
            <a:ext cx="36270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73665" y="3146970"/>
            <a:ext cx="326588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2450" y="3661320"/>
            <a:ext cx="16513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03846" y="3661320"/>
            <a:ext cx="25427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46575" y="3661320"/>
            <a:ext cx="36270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373665" y="3661320"/>
            <a:ext cx="326588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2450" y="4175670"/>
            <a:ext cx="16513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03846" y="4175670"/>
            <a:ext cx="25427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46575" y="4175670"/>
            <a:ext cx="36270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373665" y="4175670"/>
            <a:ext cx="326588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2450" y="4690020"/>
            <a:ext cx="165139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03846" y="4690020"/>
            <a:ext cx="25427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746575" y="4690020"/>
            <a:ext cx="362709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73665" y="4690020"/>
            <a:ext cx="326588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453D9D-6CFC-FCCA-C60E-C2B92899A0CA}"/>
              </a:ext>
            </a:extLst>
          </p:cNvPr>
          <p:cNvSpPr txBox="1"/>
          <p:nvPr/>
        </p:nvSpPr>
        <p:spPr>
          <a:xfrm>
            <a:off x="552450" y="180975"/>
            <a:ext cx="1055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Format Specifiers in C Programming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50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Derived Data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fundamental types to represent more complex data.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03120"/>
            <a:ext cx="3520440" cy="22860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finite sequence (table) of variables of the same data type.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F2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103120"/>
            <a:ext cx="3520440" cy="2286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260604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character variables, ending in a null character.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82880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E2A3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2103120"/>
            <a:ext cx="3520440" cy="228600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8288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94192" y="260604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collection of related variables — the same or different types — called a record. Its variables are members or fields.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Derived Types in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766560" cy="5029200"/>
          </a:xfrm>
          <a:prstGeom prst="roundRect">
            <a:avLst>
              <a:gd name="adj" fmla="val 1455"/>
            </a:avLst>
          </a:prstGeom>
          <a:solidFill>
            <a:srgbClr val="13202B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426464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" y="1426464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426464"/>
            <a:ext cx="100584" cy="1005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4208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elevationTable[20];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inputSymbols[] = "Hello World";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operationsStruct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double heatReading;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int temperatureValue;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float speedMeter;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char actionCode;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};  // End struct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operationsStruct currentOperations;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46304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76352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83880" y="13716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Array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elevationTable holds 20 int values, all the same type.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28346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27432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String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inputSymbols is a char array initialized with text.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4206240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41148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operationsStruct groups four different-typed fields into one record.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Records, Structures &amp; typedef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lets a programmer treat a group of variables as one variable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(members) can be any built-in or programmer-defined type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can be assigned to, read from, passed to, and returned by a function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creates a synonym for a type — most often used to simplify structure names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172200" y="12344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3202B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36792" y="1380744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6501384" y="1380744"/>
            <a:ext cx="100584" cy="10058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Shape 5"/>
          <p:cNvSpPr/>
          <p:nvPr/>
        </p:nvSpPr>
        <p:spPr>
          <a:xfrm>
            <a:off x="6665976" y="1380744"/>
            <a:ext cx="100584" cy="100584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618488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double heatReading;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int temperatureValue;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float speedMeter;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char actionCode;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 operationsRecordType;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operationsRecordType  currentOperations;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3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operationsRecordType  futureOperations;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two structure variables can be declared without retyping the whole struct definition.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Activity 1 · Declare &amp; Defend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work · 10 minutes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real-world value below, choose the correct C data type and write a valid, legal declaration for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108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exam score out of 100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6758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initial of a student's name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24281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a textbook, to the cent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901184"/>
            <a:ext cx="365760" cy="36576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01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48097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30 daily temperature readings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468112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468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53766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light switch is on or off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95360" y="3200400"/>
            <a:ext cx="3017520" cy="2834640"/>
          </a:xfrm>
          <a:prstGeom prst="roundRect">
            <a:avLst>
              <a:gd name="adj" fmla="val 2581"/>
            </a:avLst>
          </a:prstGeom>
          <a:solidFill>
            <a:srgbClr val="1E2A38"/>
          </a:solidFill>
          <a:ln/>
        </p:spPr>
      </p:sp>
      <p:sp>
        <p:nvSpPr>
          <p:cNvPr id="25" name="Text 23"/>
          <p:cNvSpPr/>
          <p:nvPr/>
        </p:nvSpPr>
        <p:spPr>
          <a:xfrm>
            <a:off x="882396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with your partner: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23960" y="38404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your chosen types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 int wouldn't fit the price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to write on the 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Activity 2 · Code It Yourself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 (3-4) · 20 minutes · pick one problem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to calculate the mean (average) of 5 numbers.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type holds each score?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type holds the sum?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type must hold the average — and why?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sum / 5 behaves differently for int vs float.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2585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program to extract the integer value from a float variable.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float is assigned to an int?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find just the fractional part?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35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with 1023.128329 — predict the output first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5303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this is called type truncation, not rounding.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 for Understanding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D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 — answer on your own, then we'll check together.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4384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would you use to store a single letter grade like 'A'?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468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2B38"/>
          </a:solidFill>
          <a:ln w="12700">
            <a:solidFill>
              <a:srgbClr val="3A4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468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2B38"/>
          </a:solidFill>
          <a:ln w="12700">
            <a:solidFill>
              <a:srgbClr val="3A4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4384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47472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10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combines several different-typed fields into one record?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71600" y="40690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2B38"/>
          </a:solidFill>
          <a:ln w="12700">
            <a:solidFill>
              <a:srgbClr val="3A4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40690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2B38"/>
          </a:solidFill>
          <a:ln w="12700">
            <a:solidFill>
              <a:srgbClr val="3A4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40690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4384A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074920"/>
            <a:ext cx="384048" cy="384048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010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a legal C identifier?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71600" y="56692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2B38"/>
          </a:solidFill>
          <a:ln w="12700">
            <a:solidFill>
              <a:srgbClr val="3A4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669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2total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749040" y="56692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5669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total_score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566928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A2B38"/>
          </a:solidFill>
          <a:ln w="12700">
            <a:solidFill>
              <a:srgbClr val="3A4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5669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3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needs a type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define both the values a variable can hold and the operations allowed on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6459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6276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types are the foundation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240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char, float, double, void, and pointers underpin everything else.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8679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&amp; programmer-defined types build on them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4805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and structures combine fundamentals into richer data.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152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38862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38679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 follow strict rules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44805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digits, and underscores only — no keywords, no embedded spaces.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651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6868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 data types.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Next up: Operators &amp; Expressions in 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Data Types in 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Custom 1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42</TotalTime>
  <Words>1569</Words>
  <Application>Microsoft Office PowerPoint</Application>
  <PresentationFormat>Widescreen</PresentationFormat>
  <Paragraphs>313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Bookman Old Style</vt:lpstr>
      <vt:lpstr>Calibri</vt:lpstr>
      <vt:lpstr>Courier New</vt:lpstr>
      <vt:lpstr>Inter</vt:lpstr>
      <vt:lpstr>Neue Haas Grotesk Text Pro</vt:lpstr>
      <vt:lpstr>Plus Jakarta Sans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Ruchi talwar</cp:lastModifiedBy>
  <cp:revision>6</cp:revision>
  <dcterms:created xsi:type="dcterms:W3CDTF">2026-07-18T10:57:03Z</dcterms:created>
  <dcterms:modified xsi:type="dcterms:W3CDTF">2026-08-31T06:41:49Z</dcterms:modified>
</cp:coreProperties>
</file>